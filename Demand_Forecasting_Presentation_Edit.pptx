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33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29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00195-0B25-5768-9A2C-0E40D1D9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C0240-AC09-EF3A-6757-A9B73CF9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36141-D61A-6C8C-F706-A81925BF0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33891-CE4D-6933-0AF0-4673C27ED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3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FOR DATA SCIENCE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Forecasting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Inventory Optimization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87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E-Commerce Purchase Analysis  ·  2018–2022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907792"/>
            <a:ext cx="2286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0723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Tiwa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Odumakinde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(DAL289298) ·  Vimala Mehrotra (DAL683678)  ·  Akhil Mishra(AXM240034)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Date : April 28</a:t>
            </a:r>
            <a:r>
              <a:rPr lang="en-US" sz="1100" baseline="30000" dirty="0">
                <a:solidFill>
                  <a:schemeClr val="bg1"/>
                </a:solidFill>
              </a:rPr>
              <a:t>th</a:t>
            </a:r>
            <a:r>
              <a:rPr lang="en-US" sz="1100" dirty="0"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4261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462686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12280" y="4261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462686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inventory forecasting matter for online retail?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1828800"/>
          </a:xfrm>
          <a:prstGeom prst="rect">
            <a:avLst/>
          </a:prstGeom>
          <a:solidFill>
            <a:srgbClr val="1F2937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products should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retailer stock up on,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852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 this project answers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3931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$86,600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per year from just 1% inventory accuracy improvement across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revenue categories alone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325880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45152" y="1572768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tied up in unsold warehouse inventory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212848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5152" y="2459736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10912" y="2304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10912" y="25786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 + damaged customer trust during peak periods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099816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45152" y="3346704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10912" y="31912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34655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create binary risk windows around Q4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986784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45152" y="4233672"/>
            <a:ext cx="256032" cy="256032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40782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SKUs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43525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546K unique products — impossible to track manually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 and how it was prepared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e-commerce 1.0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97510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 et al. (2023)  ·  Harvard Dataverse  ·  DOI: 10.7910/DVN/YGLYDY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48716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Nature Scientific Data (2024)  ·  Pearson r = 0.978 vs Amazon public sales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5,027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participants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84832" y="288036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84832" y="29443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1.8M+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84832" y="3310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purchases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03904" y="288036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03904" y="29443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2018–2022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03904" y="3310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full years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913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967,702 rows  ·  5 complete years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3616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categories  ·  $23.0M revenue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56285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$23.78 avg order  ·  546K unique SKUs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1325880"/>
            <a:ext cx="32461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42432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15000" y="1719072"/>
            <a:ext cx="54864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2160" y="17190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6,854 exact duplicate transactions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2212848"/>
            <a:ext cx="54864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52160" y="2212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rows missing product title, ASIN, or category (~5%)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2706624"/>
            <a:ext cx="54864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52160" y="27066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2023 &amp; 2024 — incomplete years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320040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52160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400+ raw Amazon codes → 16 business categories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3694176"/>
            <a:ext cx="54864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36941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Revenue = Price × Quantity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15000" y="4187952"/>
            <a:ext cx="54864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52160" y="4187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time features: year, month, quarter, day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Revenue Rankings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actually comes from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categor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9436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261872"/>
            <a:ext cx="237744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13350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37.6%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9224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top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categories combined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46520" y="2523744"/>
            <a:ext cx="2377440" cy="1115568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46520" y="25968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$41.85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92240" y="3072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Electronics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46520" y="3785616"/>
            <a:ext cx="2377440" cy="1115568"/>
          </a:xfrm>
          <a:prstGeom prst="rect">
            <a:avLst/>
          </a:prstGeom>
          <a:solidFill>
            <a:srgbClr val="0F766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38587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$37.27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92240" y="4334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Outdoors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value, low traffic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Growth 2018–2022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surge, lasting shift, then a plateau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yo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5778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261872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35040" y="1261872"/>
            <a:ext cx="91440" cy="8229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36208" y="13167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2018→19  +22.1%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36208" y="160934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baseline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2212848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035040" y="2212848"/>
            <a:ext cx="91440" cy="82296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36208" y="22677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2019→20  +48.2%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36208" y="256032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lockdowns drove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surge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3163824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35040" y="3163824"/>
            <a:ext cx="91440" cy="82296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36208" y="3218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2020→21  +22.8%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36208" y="35112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held — not just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effect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35040" y="4114800"/>
            <a:ext cx="2788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35040" y="4114800"/>
            <a:ext cx="91440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36208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2021→22  −1.2%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236208" y="44622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contraction.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Volume-led growth is over.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 Customers Buy?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day-of-week patterns reveal when to stock up and when to run promotions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57784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261872"/>
            <a:ext cx="27432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44768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+ Dec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44768" y="15361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44768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revenue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 months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2276856"/>
            <a:ext cx="27432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44768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44768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Day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44768" y="2843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secondary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every year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3291840"/>
            <a:ext cx="27432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44768" y="3346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44768" y="3566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4476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window for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&amp; renegotiation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1148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highest revenue day — 16% above Saturday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434840"/>
            <a:ext cx="594360" cy="502920"/>
          </a:xfrm>
          <a:prstGeom prst="rect">
            <a:avLst/>
          </a:prstGeom>
          <a:solidFill>
            <a:srgbClr val="D97706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0040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060704" y="4452003"/>
            <a:ext cx="594360" cy="485757"/>
          </a:xfrm>
          <a:prstGeom prst="rect">
            <a:avLst/>
          </a:prstGeom>
          <a:solidFill>
            <a:srgbClr val="BFDB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60704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801368" y="4466914"/>
            <a:ext cx="594360" cy="470846"/>
          </a:xfrm>
          <a:prstGeom prst="rect">
            <a:avLst/>
          </a:prstGeom>
          <a:solidFill>
            <a:srgbClr val="BFDB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801368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542032" y="4488579"/>
            <a:ext cx="594360" cy="449181"/>
          </a:xfrm>
          <a:prstGeom prst="rect">
            <a:avLst/>
          </a:prstGeom>
          <a:solidFill>
            <a:srgbClr val="BFDB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542032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82696" y="4481263"/>
            <a:ext cx="594360" cy="456497"/>
          </a:xfrm>
          <a:prstGeom prst="rect">
            <a:avLst/>
          </a:prstGeom>
          <a:solidFill>
            <a:srgbClr val="BFDB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82696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23360" y="4515167"/>
            <a:ext cx="594360" cy="422593"/>
          </a:xfrm>
          <a:prstGeom prst="rect">
            <a:avLst/>
          </a:prstGeom>
          <a:solidFill>
            <a:srgbClr val="E5E7E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023360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64024" y="4488719"/>
            <a:ext cx="594360" cy="449041"/>
          </a:xfrm>
          <a:prstGeom prst="rect">
            <a:avLst/>
          </a:prstGeom>
          <a:solidFill>
            <a:srgbClr val="BFDB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64024" y="4956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Products by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volume and revenue don't always point to the same products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1F2937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3258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24912" y="13258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79392" y="13258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38928" y="132588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89320" y="1325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7739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Balance Reload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17739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79392" y="1773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4,945 units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38928" y="17739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7739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purely financial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8503920" cy="420624"/>
          </a:xfrm>
          <a:prstGeom prst="rect">
            <a:avLst/>
          </a:prstGeom>
          <a:solidFill>
            <a:srgbClr val="FDF8F3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2311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Batteries 48-Pack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24912" y="2231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79392" y="22311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 units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38928" y="22311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231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true merchandise performer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51760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26883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Dot (3rd Gen)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24912" y="2688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9392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units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8928" y="26883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26883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device — strong revenue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108960"/>
            <a:ext cx="8503920" cy="420624"/>
          </a:xfrm>
          <a:prstGeom prst="rect">
            <a:avLst/>
          </a:prstGeom>
          <a:solidFill>
            <a:srgbClr val="FDF8F3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322783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" y="31455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TV Stick 4K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24912" y="31455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79392" y="31455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units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38928" y="31455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1455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in top 15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566160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" y="36027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(Slicing)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24912" y="3602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79392" y="36027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units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36027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near-zero revenue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023360"/>
            <a:ext cx="8503920" cy="420624"/>
          </a:xfrm>
          <a:prstGeom prst="rect">
            <a:avLst/>
          </a:prstGeom>
          <a:solidFill>
            <a:srgbClr val="FDF8F3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8912" y="40599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Ramen Noodles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24912" y="40599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79392" y="4059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units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38928" y="40599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40599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$0.28 per unit — replenishment only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480560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8912" y="45171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Prints 4×6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24912" y="4517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79392" y="45171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units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38928" y="45171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89320" y="4517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units, yet only $75 total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4974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unit volume and revenue are not correlated. Electronics devices deliver 5–10× more revenue per unit than grocery items.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Forecast: Home &amp; Kitchen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on 60 months of data — a concrete purchasing roadmap for 2023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66928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72200" y="1572768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72200" y="162763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76.6%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172200" y="20116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explains 76.6%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variation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72200" y="2542032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72200" y="259689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$11,974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72200" y="298094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(MAE)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3511296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72200" y="356616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+$1,573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172200" y="39502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trend line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0040" y="4160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MONTHLY FORECAST — HOME &amp; KITCHEN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" y="4965192"/>
            <a:ext cx="566928" cy="109728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0040" y="473659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14984" y="4919488"/>
            <a:ext cx="566928" cy="155432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14984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709928" y="4873755"/>
            <a:ext cx="566928" cy="201165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709928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404872" y="4828050"/>
            <a:ext cx="566928" cy="24687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404872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099816" y="4782317"/>
            <a:ext cx="566928" cy="292603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099816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794760" y="4736613"/>
            <a:ext cx="566928" cy="338307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794760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489704" y="4690880"/>
            <a:ext cx="566928" cy="38404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489704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184648" y="4645176"/>
            <a:ext cx="566928" cy="429744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184648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879592" y="4599443"/>
            <a:ext cx="566928" cy="475477"/>
          </a:xfrm>
          <a:prstGeom prst="rect">
            <a:avLst/>
          </a:prstGeom>
          <a:solidFill>
            <a:srgbClr val="0F766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79592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574536" y="4553738"/>
            <a:ext cx="566928" cy="521182"/>
          </a:xfrm>
          <a:prstGeom prst="rect">
            <a:avLst/>
          </a:prstGeom>
          <a:solidFill>
            <a:srgbClr val="0F766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574536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269480" y="4508005"/>
            <a:ext cx="566928" cy="566915"/>
          </a:xfrm>
          <a:prstGeom prst="rect">
            <a:avLst/>
          </a:prstGeom>
          <a:solidFill>
            <a:srgbClr val="1F293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269480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964424" y="4462272"/>
            <a:ext cx="566928" cy="612648"/>
          </a:xfrm>
          <a:prstGeom prst="rect">
            <a:avLst/>
          </a:prstGeom>
          <a:solidFill>
            <a:srgbClr val="1F2937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964424" y="5093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4424" y="473659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these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7830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3624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" y="13624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Zero-stockout policy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+ Electronics = 37.6% of revenue. Never run out in these two.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7830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3624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12464" y="13624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Q4 inventory by Sep 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29.7% of annual revenue every single year. Start eight weeks early.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743200" cy="17830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743200" cy="5486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0488" y="13624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92824" y="13624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= clearance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78308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 below December. Best time for markdowns and supplier negotiations.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36392"/>
            <a:ext cx="2743200" cy="17830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3264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campaigns on Mondays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685032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16% above Saturday. Email sends and product launches go live Mon–Tue.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136392"/>
            <a:ext cx="2743200" cy="17830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136392"/>
            <a:ext cx="2743200" cy="5486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10128" y="3264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12464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Sports &amp; Outdoors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85032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$37.27 avg order value but only 2.2% of orders. Doubling share = ~$800K revenue.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136392"/>
            <a:ext cx="2743200" cy="17830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3136392"/>
            <a:ext cx="2743200" cy="5486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90488" y="3264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92824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2023 forecast as a floor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3685032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$128K–$145K per month for Home &amp; Kitchen. Add 25–35% buffer for Nov–Dec.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4160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4572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7007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sample — frequent buyers likely overrepresented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4780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COVID spike inflates the trend line, making 2023 forecast slightly optimistic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54864" cy="4572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325526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doesn't capture seasonality explicitly — $12K MAE reflects monthly swings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4864" cy="4572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40325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546K SKUs, product-level forecasting is not reliable on this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7371E-53BC-9507-A3B5-220686CCB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DD6EB1-112D-55C2-D2E5-5CDCFC62B884}"/>
              </a:ext>
            </a:extLst>
          </p:cNvPr>
          <p:cNvSpPr/>
          <p:nvPr/>
        </p:nvSpPr>
        <p:spPr>
          <a:xfrm>
            <a:off x="457200" y="2560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DFC7B3-9142-859B-0D01-E21EC269E4D1}"/>
              </a:ext>
            </a:extLst>
          </p:cNvPr>
          <p:cNvSpPr/>
          <p:nvPr/>
        </p:nvSpPr>
        <p:spPr>
          <a:xfrm>
            <a:off x="457200" y="1115568"/>
            <a:ext cx="1645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7FD748F-8D30-C2DC-8F72-D23D7657EC2C}"/>
              </a:ext>
            </a:extLst>
          </p:cNvPr>
          <p:cNvSpPr/>
          <p:nvPr/>
        </p:nvSpPr>
        <p:spPr>
          <a:xfrm>
            <a:off x="457200" y="1321308"/>
            <a:ext cx="4160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726E584-9E95-4DD3-3F72-E4F4C5F74D40}"/>
              </a:ext>
            </a:extLst>
          </p:cNvPr>
          <p:cNvSpPr/>
          <p:nvPr/>
        </p:nvSpPr>
        <p:spPr>
          <a:xfrm>
            <a:off x="621792" y="13944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BA9477D-8575-24B2-DDE0-5114ECBC9D9B}"/>
              </a:ext>
            </a:extLst>
          </p:cNvPr>
          <p:cNvSpPr/>
          <p:nvPr/>
        </p:nvSpPr>
        <p:spPr>
          <a:xfrm>
            <a:off x="594360" y="1714500"/>
            <a:ext cx="54864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7259DB-C41F-C7F5-09DA-5E1461D4BDD9}"/>
              </a:ext>
            </a:extLst>
          </p:cNvPr>
          <p:cNvSpPr/>
          <p:nvPr/>
        </p:nvSpPr>
        <p:spPr>
          <a:xfrm>
            <a:off x="758952" y="17236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/ STL model</a:t>
            </a:r>
            <a:endParaRPr lang="en-US" sz="11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E6BFF7-81DA-7711-03FD-BC39F0695AD8}"/>
              </a:ext>
            </a:extLst>
          </p:cNvPr>
          <p:cNvSpPr/>
          <p:nvPr/>
        </p:nvSpPr>
        <p:spPr>
          <a:xfrm>
            <a:off x="758952" y="19796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monthly seasonality to reduce MAE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0C14F1F-E3FB-5EE4-F044-460B19A7FD3F}"/>
              </a:ext>
            </a:extLst>
          </p:cNvPr>
          <p:cNvSpPr/>
          <p:nvPr/>
        </p:nvSpPr>
        <p:spPr>
          <a:xfrm>
            <a:off x="594360" y="2491740"/>
            <a:ext cx="54864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5593D40-034A-5195-A37A-A1C04A62320E}"/>
              </a:ext>
            </a:extLst>
          </p:cNvPr>
          <p:cNvSpPr/>
          <p:nvPr/>
        </p:nvSpPr>
        <p:spPr>
          <a:xfrm>
            <a:off x="758952" y="25008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forecasting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85ABD5F-CC1D-7E09-A9AB-4F91441E43A4}"/>
              </a:ext>
            </a:extLst>
          </p:cNvPr>
          <p:cNvSpPr/>
          <p:nvPr/>
        </p:nvSpPr>
        <p:spPr>
          <a:xfrm>
            <a:off x="758952" y="27569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Home &amp; Kitchen to all top 5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D0997BD-A747-F276-FFCA-84F9EF29202F}"/>
              </a:ext>
            </a:extLst>
          </p:cNvPr>
          <p:cNvSpPr/>
          <p:nvPr/>
        </p:nvSpPr>
        <p:spPr>
          <a:xfrm>
            <a:off x="594360" y="3268980"/>
            <a:ext cx="54864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12E0B3-3760-287C-6A66-692D27069AE1}"/>
              </a:ext>
            </a:extLst>
          </p:cNvPr>
          <p:cNvSpPr/>
          <p:nvPr/>
        </p:nvSpPr>
        <p:spPr>
          <a:xfrm>
            <a:off x="758952" y="32781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3F6F3E-B168-4182-FED7-7B8FB0CE8E6B}"/>
              </a:ext>
            </a:extLst>
          </p:cNvPr>
          <p:cNvSpPr/>
          <p:nvPr/>
        </p:nvSpPr>
        <p:spPr>
          <a:xfrm>
            <a:off x="758952" y="35341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Survey ResponseID for RFM analysis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840EC7E-1AA6-7275-1E68-0296088F51AF}"/>
              </a:ext>
            </a:extLst>
          </p:cNvPr>
          <p:cNvSpPr/>
          <p:nvPr/>
        </p:nvSpPr>
        <p:spPr>
          <a:xfrm>
            <a:off x="594360" y="4046220"/>
            <a:ext cx="54864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5EA21FB-9EF0-2176-FA81-D5931309030B}"/>
              </a:ext>
            </a:extLst>
          </p:cNvPr>
          <p:cNvSpPr/>
          <p:nvPr/>
        </p:nvSpPr>
        <p:spPr>
          <a:xfrm>
            <a:off x="758952" y="40553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features</a:t>
            </a:r>
            <a:endParaRPr lang="en-US" sz="11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96FA6FD-E126-D68B-766A-8C907198DA4A}"/>
              </a:ext>
            </a:extLst>
          </p:cNvPr>
          <p:cNvSpPr/>
          <p:nvPr/>
        </p:nvSpPr>
        <p:spPr>
          <a:xfrm>
            <a:off x="758952" y="43113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Prime Day dates, inflation, consumer confidence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5025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01168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+ Electronics = 37.6% of revenue. These two categories must never face a stockout.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29.7% of annual revenue every year without exception. Stock build must start by mid-September.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8346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forecast ($128K–$145K/month for Home &amp; Kitchen) gives a concrete floor for purchasing decisions, with 76.6% model accuracy.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37490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Outdoors is the biggest untapped opportunity — $37.27 avg order value, only 2.2% order share. Doubling it unlocks ~$800K.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4572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736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0" y="4773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Tiwa Odumakinde  ·  Vimala Mehrotra  ·  Akhil Mishra  ·  April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1016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Tiwa Odumakinde</cp:lastModifiedBy>
  <cp:revision>2</cp:revision>
  <dcterms:created xsi:type="dcterms:W3CDTF">2026-04-28T18:48:24Z</dcterms:created>
  <dcterms:modified xsi:type="dcterms:W3CDTF">2026-04-28T22:53:26Z</dcterms:modified>
</cp:coreProperties>
</file>